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3:51:3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1 686 24575,'-1'-71'0,"3"-79"0,1 135 0,0-1 0,1 1 0,1 0 0,0 0 0,1 1 0,1 0 0,10-18 0,-7 15 0,-1 0 0,-1-1 0,-1 0 0,6-22 0,-12 36 0,1-1 0,-1 2 0,1-1 0,0 0 0,0 0 0,0 0 0,0 1 0,1-1 0,0 1 0,-1 0 0,1 0 0,0 0 0,7-5 0,50-29 0,-42 27 0,-5 4 0,0 0 0,0 0 0,1 1 0,0 1 0,0 0 0,0 1 0,22-2 0,8 3 0,50 2 0,34-1 0,-62-11 0,-48 8 0,-1 0 0,29-1 0,149 7 0,74-4 0,-224-3 0,47-14 0,-58 11 0,0 2 0,0 1 0,44-1 0,592 7 0,-644 0 0,-1 2 0,29 6 0,-28-4 0,53 3 0,19-10 0,72 3 0,-155 3 0,-1 0 0,0 0 0,0 1 0,0 1 0,-1 0 0,1 1 0,-2 1 0,1 0 0,-1 0 0,17 15 0,11 7 0,-30-22 0,1-1 0,0 0 0,0 0 0,1-1 0,0-1 0,0 0 0,0 0 0,1-1 0,23 4 0,-29-6 0,0-1 0,-1 1 0,1 1 0,-1-1 0,0 1 0,0 0 0,0 1 0,0 0 0,0 0 0,-1 0 0,1 0 0,4 6 0,9 9 0,27 38 0,-37-45 0,8 12 0,-2 0 0,0 2 0,19 46 0,-15-29 0,-12-26 0,-1 0 0,-1 0 0,0 1 0,-1-1 0,-1 1 0,2 37 0,-5-54 0,13 58-1365,-9-42-5461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3:52:02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3:52:12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1 324 24575,'1'-2'0,"-1"1"0,1 0 0,-1 0 0,1 0 0,0-1 0,0 1 0,0 0 0,0 0 0,0 0 0,0 0 0,0 0 0,0 1 0,0-1 0,0 0 0,1 0 0,-1 1 0,0-1 0,0 1 0,2-1 0,33-14 0,-26 12 0,134-68 0,-119 61 0,0-1 0,-2-1 0,25-17 0,-24 17 0,-1 1 0,1 1 0,1 1 0,0 1 0,0 1 0,1 2 0,-1 0 0,33-1 0,138-15 0,-15-15 0,-143 27 0,6 3 0,0 1 0,1 2 0,86 6 0,-29-1 0,656-2 0,-731 3 0,0 0 0,0 2 0,-1 1 0,1 1 0,-1 2 0,28 12 0,24 7 0,-60-21 0,-1 1 0,34 19 0,-38-19 0,0 0 0,0-1 0,1-1 0,0 0 0,0-1 0,18 4 0,214 48 0,-200-45 0,108 36 0,-144-45 0,1 0 0,-1 0 0,1 1 0,-1 1 0,0 0 0,0 0 0,-1 1 0,11 8 0,1 4 0,36 39 0,-14-12 0,-18-23 0,0-1 0,54 32 0,-51-36 0,-1 1 0,-1 2 0,27 25 0,-24-18 0,-24-24 0,0 1 0,0 0 0,0 0 0,-1 1 0,0-1 0,0 1 0,0 0 0,-1 0 0,1 0 0,-1 0 0,0 1 0,-1-1 0,0 1 0,1 0 0,-2 0 0,1 0 0,-1 0 0,1 6 0,0 59-1365,-3-49-5461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3:53:54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1 686 24575,'-1'-71'0,"3"-79"0,1 135 0,0-1 0,1 1 0,1 0 0,0 0 0,1 1 0,1 0 0,10-18 0,-7 15 0,-1 0 0,-1-1 0,-1 0 0,6-22 0,-12 36 0,1-1 0,-1 2 0,1-1 0,0 0 0,0 0 0,0 0 0,0 1 0,1-1 0,0 1 0,-1 0 0,1 0 0,0 0 0,7-5 0,50-29 0,-42 27 0,-5 4 0,0 0 0,0 0 0,1 1 0,0 1 0,0 0 0,0 1 0,22-2 0,8 3 0,50 2 0,34-1 0,-62-11 0,-48 8 0,-1 0 0,29-1 0,149 7 0,74-4 0,-224-3 0,47-14 0,-58 11 0,0 2 0,0 1 0,44-1 0,592 7 0,-644 0 0,-1 2 0,29 6 0,-28-4 0,53 3 0,19-10 0,72 3 0,-155 3 0,-1 0 0,0 0 0,0 1 0,0 1 0,-1 0 0,1 1 0,-2 1 0,1 0 0,-1 0 0,17 15 0,11 7 0,-30-22 0,1-1 0,0 0 0,0 0 0,1-1 0,0-1 0,0 0 0,0 0 0,1-1 0,23 4 0,-29-6 0,0-1 0,-1 1 0,1 1 0,-1-1 0,0 1 0,0 0 0,0 1 0,0 0 0,0 0 0,-1 0 0,1 0 0,3 5 0</inkml:trace>
  <inkml:trace contextRef="#ctx0" brushRef="#br0" timeOffset="-4077.58">3325 685 24575,'13'59'-1365,"-9"-42"-5461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3:52:12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1 324 24575,'1'-2'0,"-1"1"0,1 0 0,-1 0 0,1 0 0,0-1 0,0 1 0,0 0 0,0 0 0,0 0 0,0 0 0,0 0 0,0 1 0,0-1 0,0 0 0,1 0 0,-1 1 0,0-1 0,0 1 0,2-1 0,33-14 0,-26 12 0,134-68 0,-119 61 0,0-1 0,-2-1 0,25-17 0,-24 17 0,-1 1 0,1 1 0,1 1 0,0 1 0,0 1 0,1 2 0,-1 0 0,33-1 0,138-15 0,-15-15 0,-143 27 0,6 3 0,0 1 0,1 2 0,86 6 0,-29-1 0,656-2 0,-731 3 0,0 0 0,0 2 0,-1 1 0,1 1 0,-1 2 0,28 12 0,24 7 0,-60-21 0,-1 1 0,34 19 0,-38-19 0,0 0 0,0-1 0,1-1 0,0 0 0,0-1 0,18 4 0,214 48 0,-200-45 0,108 36 0,-144-45 0,1 0 0,-1 0 0,1 1 0,-1 1 0,0 0 0,0 0 0,-1 1 0,11 8 0,1 4 0,36 39 0,-14-12 0,-18-23 0,0-1 0,54 32 0,-51-36 0,-1 1 0,-1 2 0,27 25 0,-24-18 0,-24-24 0,0 1 0,0 0 0,0 0 0,-1 1 0,0-1 0,0 1 0,0 0 0,-1 0 0,1 0 0,-1 0 0,0 1 0,-1-1 0,0 1 0,1 0 0,-2 0 0,1 0 0,-1 0 0,1 6 0,0 59-1365,-3-49-5461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3:53:47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 24575,'-13'15'0,"0"0"0,1 1 0,-16 30 0,20-32 0,-1 1 0,0-2 0,-1 1 0,0-1 0,-1-1 0,-16 15 0,-83 73 0,105-95 0,0-1 0,1 1 0,-1 0 0,1 1 0,0-1 0,0 1 0,1-1 0,0 1 0,0 0 0,-4 11 0,-12 66 0,11-38 0,0-4 0,4-21 0,0 1 0,-2-1 0,-10 26 0,12-35-227,0 0-1,1 1 1,0-1-1,1 0 1,-2 21-1,3-12-6598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CCEB-8BE0-686D-4BF0-6C37E828F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3B52E-9ECB-0924-B808-1B7198643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4A61-8910-0443-DA15-BF19252C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22217-C867-6C1E-886C-FC4153C8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AF88-AAD9-B4B9-14DB-A11C459F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8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BF93-24D2-7C6E-DA87-05CB4DD3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457B8-EB8B-4526-D207-44457142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4CE02-150F-9007-8B8C-44E49619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167A3-0CA0-F2F4-C930-AD911A5D8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05CF5-829A-E673-C816-766EA6A2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1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CD29-ADBB-E77D-6845-160C7EBC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5AAE8-F8AF-E3A0-C0BA-B472DE2B3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D5507-D9AF-8C60-4BFB-251CDF60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97009-522B-2F01-0F84-42BABB66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E58C-D6CD-A2FD-3C36-3AE1D02E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0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8D89-AECB-E805-3D59-98AC19EA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A1891-8D9E-DEBA-639D-E44C5BFE5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E3466-CAF7-35FB-DAFC-882975C69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28AB6-9AD4-24F8-CD7A-C1CAB569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2712F-3BFC-E2FF-7B14-8C20B227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0A59F-A8D8-005F-7464-03E66160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8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B361-12F7-9844-2FCC-975BF547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C0390-3C84-A7FD-4C13-79AB09C7F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C2BF3-8F7F-DF13-8E89-1929450AA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086A9E-49B2-2991-E9FE-E1D8913F5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EA47D-4EED-A9FB-1FCB-C79C66906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295ADF-5764-774F-F382-355219B4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97FA7-9326-53F8-00D3-150E62C03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00AEC-4BE4-8704-3EF1-86E0397A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7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34AE-C7D9-509C-2AA4-56D76719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AD34C-FC51-FB00-324B-CEC4E9F6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F8A98-7C52-A803-DAF6-F20899C0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7E804-9532-578C-94A0-9E4166F51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41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40F18-3567-0601-E495-07AAA368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CC4E8-507E-1CAD-8971-F9081FF7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F78D-5C1E-4FF3-999E-8E773AE2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200E-EE23-8A86-1123-D210E981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EE566-67F9-9F7F-36B5-404B2A9D1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001B0-F632-9917-5BCB-36DA68D9F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F4401-2C32-F08A-001C-8453809B6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21C8F-8533-B2BF-FE29-00714050F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13F34-EBEA-0F62-B16C-4B0BAD66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44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81D5-6896-9B75-15B4-D20BA028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86205B-16E4-2043-D840-60534093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11142-FF0A-949A-B780-5E992D5D1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9B1BD-920E-BE02-0626-42B2D557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715A9-6350-C3D1-5C0C-897F0B73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62B17-576E-0C82-ED96-E3EE8C59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9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CC63-6EFE-C12E-5121-F7846A37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09DA6-3122-C9D7-BA00-1981B7C5C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2D26C-A9CB-643C-6499-CF5B17C0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45838-CF47-47CC-DED5-4769341D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34841-804E-CEFF-A91D-FD36EFC7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1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F67E9-262D-C08A-486A-DB4F5FEB1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CCD8E-00A8-A641-89AA-CA552A86F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00A80-36C9-07EF-AB4A-789411C59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5D6F6-ADC1-F51F-95E7-387966AA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6B79C-C9EE-0138-7A0E-87C3883C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71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7C363C-FDFA-F513-A74A-75585471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DA14F-6416-E5E0-B460-0467A29EE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066F7-18E3-BC5B-1C4C-AD4103D65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CB028-7E58-4BB9-B656-F1E98375C13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9F3EE-6035-CD55-C9EC-3AEDCBB80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F4118-8934-8D57-FF4F-1868F5669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03689-9A87-46B8-80EC-5DD97135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1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6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70D0C1-6A6D-6787-952F-A248FD6A1F22}"/>
              </a:ext>
            </a:extLst>
          </p:cNvPr>
          <p:cNvSpPr/>
          <p:nvPr/>
        </p:nvSpPr>
        <p:spPr>
          <a:xfrm>
            <a:off x="514350" y="381000"/>
            <a:ext cx="11210925" cy="61626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4E159-4762-A1B2-F863-4E111DEDC14C}"/>
              </a:ext>
            </a:extLst>
          </p:cNvPr>
          <p:cNvSpPr txBox="1"/>
          <p:nvPr/>
        </p:nvSpPr>
        <p:spPr>
          <a:xfrm>
            <a:off x="5667374" y="-8841"/>
            <a:ext cx="1933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Splash screen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198098-1DFE-9F32-E600-9F5E95B3578F}"/>
              </a:ext>
            </a:extLst>
          </p:cNvPr>
          <p:cNvSpPr/>
          <p:nvPr/>
        </p:nvSpPr>
        <p:spPr>
          <a:xfrm>
            <a:off x="1400175" y="771525"/>
            <a:ext cx="1047750" cy="600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69D4AE-CA86-FC42-DA9F-3762728BBAD4}"/>
              </a:ext>
            </a:extLst>
          </p:cNvPr>
          <p:cNvSpPr/>
          <p:nvPr/>
        </p:nvSpPr>
        <p:spPr>
          <a:xfrm>
            <a:off x="10010775" y="790574"/>
            <a:ext cx="1047750" cy="600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Configuration and settings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F5D32-5F1A-2FD5-723F-993315821231}"/>
              </a:ext>
            </a:extLst>
          </p:cNvPr>
          <p:cNvSpPr/>
          <p:nvPr/>
        </p:nvSpPr>
        <p:spPr>
          <a:xfrm>
            <a:off x="8274844" y="790574"/>
            <a:ext cx="1303114" cy="600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Lockdown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F8A41C-C50B-8202-8DA9-C0410A4660AA}"/>
              </a:ext>
            </a:extLst>
          </p:cNvPr>
          <p:cNvSpPr/>
          <p:nvPr/>
        </p:nvSpPr>
        <p:spPr>
          <a:xfrm>
            <a:off x="6531769" y="804860"/>
            <a:ext cx="1047750" cy="600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84CCBE-9CC6-C0DE-8CD6-8B4C3FC31D44}"/>
              </a:ext>
            </a:extLst>
          </p:cNvPr>
          <p:cNvSpPr/>
          <p:nvPr/>
        </p:nvSpPr>
        <p:spPr>
          <a:xfrm>
            <a:off x="4824413" y="771524"/>
            <a:ext cx="1047750" cy="600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0A760-A3F2-D55E-4A6A-0EC6A97C7EF8}"/>
              </a:ext>
            </a:extLst>
          </p:cNvPr>
          <p:cNvSpPr/>
          <p:nvPr/>
        </p:nvSpPr>
        <p:spPr>
          <a:xfrm>
            <a:off x="3081338" y="771524"/>
            <a:ext cx="1047750" cy="600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6F9DD-1E1E-6471-D77C-81C8E6D50F99}"/>
              </a:ext>
            </a:extLst>
          </p:cNvPr>
          <p:cNvSpPr txBox="1"/>
          <p:nvPr/>
        </p:nvSpPr>
        <p:spPr>
          <a:xfrm>
            <a:off x="1343025" y="886895"/>
            <a:ext cx="1242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98F8C-E1A2-F962-D398-6F5A40885767}"/>
              </a:ext>
            </a:extLst>
          </p:cNvPr>
          <p:cNvSpPr txBox="1"/>
          <p:nvPr/>
        </p:nvSpPr>
        <p:spPr>
          <a:xfrm>
            <a:off x="4646333" y="886895"/>
            <a:ext cx="1403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Permissions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C55E4-FF34-E29F-5D52-AD4A51FA1E39}"/>
              </a:ext>
            </a:extLst>
          </p:cNvPr>
          <p:cNvSpPr txBox="1"/>
          <p:nvPr/>
        </p:nvSpPr>
        <p:spPr>
          <a:xfrm>
            <a:off x="6404087" y="905945"/>
            <a:ext cx="130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Quarantine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6BEB91-C679-03DF-45DC-C2A1D438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80091"/>
            <a:ext cx="6307874" cy="463498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6AF107-7965-186B-20DC-0FE84E5B15ED}"/>
              </a:ext>
            </a:extLst>
          </p:cNvPr>
          <p:cNvSpPr/>
          <p:nvPr/>
        </p:nvSpPr>
        <p:spPr>
          <a:xfrm>
            <a:off x="7707201" y="1647825"/>
            <a:ext cx="3875199" cy="2314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001A69-B490-75EA-536D-1EE19969CF01}"/>
              </a:ext>
            </a:extLst>
          </p:cNvPr>
          <p:cNvSpPr txBox="1"/>
          <p:nvPr/>
        </p:nvSpPr>
        <p:spPr>
          <a:xfrm>
            <a:off x="8371887" y="2620446"/>
            <a:ext cx="2545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Sensitive data over time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9B13CB-2D02-5F35-1CB7-9B0E30693574}"/>
              </a:ext>
            </a:extLst>
          </p:cNvPr>
          <p:cNvSpPr/>
          <p:nvPr/>
        </p:nvSpPr>
        <p:spPr>
          <a:xfrm>
            <a:off x="7707201" y="4052887"/>
            <a:ext cx="3875199" cy="2314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A67E3E-CF3E-0CC6-0C91-289312465494}"/>
              </a:ext>
            </a:extLst>
          </p:cNvPr>
          <p:cNvSpPr txBox="1"/>
          <p:nvPr/>
        </p:nvSpPr>
        <p:spPr>
          <a:xfrm>
            <a:off x="8353262" y="5025508"/>
            <a:ext cx="1843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Statuses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FF9E19-9471-17E1-15BB-61FFE8BCD3BE}"/>
              </a:ext>
            </a:extLst>
          </p:cNvPr>
          <p:cNvSpPr txBox="1"/>
          <p:nvPr/>
        </p:nvSpPr>
        <p:spPr>
          <a:xfrm>
            <a:off x="514350" y="247650"/>
            <a:ext cx="466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Notes: scroll bar; heatmap expands vertically</a:t>
            </a:r>
          </a:p>
        </p:txBody>
      </p:sp>
    </p:spTree>
    <p:extLst>
      <p:ext uri="{BB962C8B-B14F-4D97-AF65-F5344CB8AC3E}">
        <p14:creationId xmlns:p14="http://schemas.microsoft.com/office/powerpoint/2010/main" val="3764287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F7CE45-3E85-7F16-8064-AA805CCC1C7A}"/>
              </a:ext>
            </a:extLst>
          </p:cNvPr>
          <p:cNvSpPr/>
          <p:nvPr/>
        </p:nvSpPr>
        <p:spPr>
          <a:xfrm>
            <a:off x="171450" y="180975"/>
            <a:ext cx="11849100" cy="64960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F9842-C37B-5D3A-801F-418CF7D5F16B}"/>
              </a:ext>
            </a:extLst>
          </p:cNvPr>
          <p:cNvSpPr txBox="1"/>
          <p:nvPr/>
        </p:nvSpPr>
        <p:spPr>
          <a:xfrm>
            <a:off x="5381625" y="391595"/>
            <a:ext cx="1242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86E122-9FE7-8C29-ADC6-36061D8538B7}"/>
              </a:ext>
            </a:extLst>
          </p:cNvPr>
          <p:cNvSpPr/>
          <p:nvPr/>
        </p:nvSpPr>
        <p:spPr>
          <a:xfrm>
            <a:off x="533400" y="1085850"/>
            <a:ext cx="4314825" cy="50863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F04FE-5509-64D2-F334-24B62E37FB98}"/>
              </a:ext>
            </a:extLst>
          </p:cNvPr>
          <p:cNvSpPr/>
          <p:nvPr/>
        </p:nvSpPr>
        <p:spPr>
          <a:xfrm>
            <a:off x="1009650" y="1905000"/>
            <a:ext cx="3362325" cy="18478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Expandable folder tree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736F9EC-1088-FC24-5B08-C5716D5F7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023470"/>
              </p:ext>
            </p:extLst>
          </p:nvPr>
        </p:nvGraphicFramePr>
        <p:xfrm>
          <a:off x="5114925" y="413382"/>
          <a:ext cx="6591300" cy="558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23857978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81025837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813851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03317483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4155688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101274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Total Size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Late Event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Last Accessed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Last Modifed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Last Toucher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etc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59987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C7F5BE2-CC07-0C45-C2BF-D2B840AC812C}"/>
              </a:ext>
            </a:extLst>
          </p:cNvPr>
          <p:cNvSpPr txBox="1"/>
          <p:nvPr/>
        </p:nvSpPr>
        <p:spPr>
          <a:xfrm>
            <a:off x="1400476" y="413382"/>
            <a:ext cx="1242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73947AC-9FAB-AD4B-E21B-C4A058AAB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185125"/>
              </p:ext>
            </p:extLst>
          </p:nvPr>
        </p:nvGraphicFramePr>
        <p:xfrm>
          <a:off x="5114924" y="993334"/>
          <a:ext cx="6591299" cy="52907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7198">
                  <a:extLst>
                    <a:ext uri="{9D8B030D-6E8A-4147-A177-3AD203B41FA5}">
                      <a16:colId xmlns:a16="http://schemas.microsoft.com/office/drawing/2014/main" val="214412894"/>
                    </a:ext>
                  </a:extLst>
                </a:gridCol>
                <a:gridCol w="745622">
                  <a:extLst>
                    <a:ext uri="{9D8B030D-6E8A-4147-A177-3AD203B41FA5}">
                      <a16:colId xmlns:a16="http://schemas.microsoft.com/office/drawing/2014/main" val="3635108361"/>
                    </a:ext>
                  </a:extLst>
                </a:gridCol>
                <a:gridCol w="815213">
                  <a:extLst>
                    <a:ext uri="{9D8B030D-6E8A-4147-A177-3AD203B41FA5}">
                      <a16:colId xmlns:a16="http://schemas.microsoft.com/office/drawing/2014/main" val="2986658490"/>
                    </a:ext>
                  </a:extLst>
                </a:gridCol>
                <a:gridCol w="1133346">
                  <a:extLst>
                    <a:ext uri="{9D8B030D-6E8A-4147-A177-3AD203B41FA5}">
                      <a16:colId xmlns:a16="http://schemas.microsoft.com/office/drawing/2014/main" val="1178851157"/>
                    </a:ext>
                  </a:extLst>
                </a:gridCol>
                <a:gridCol w="994163">
                  <a:extLst>
                    <a:ext uri="{9D8B030D-6E8A-4147-A177-3AD203B41FA5}">
                      <a16:colId xmlns:a16="http://schemas.microsoft.com/office/drawing/2014/main" val="3724597497"/>
                    </a:ext>
                  </a:extLst>
                </a:gridCol>
                <a:gridCol w="994163">
                  <a:extLst>
                    <a:ext uri="{9D8B030D-6E8A-4147-A177-3AD203B41FA5}">
                      <a16:colId xmlns:a16="http://schemas.microsoft.com/office/drawing/2014/main" val="1402796662"/>
                    </a:ext>
                  </a:extLst>
                </a:gridCol>
                <a:gridCol w="477198">
                  <a:extLst>
                    <a:ext uri="{9D8B030D-6E8A-4147-A177-3AD203B41FA5}">
                      <a16:colId xmlns:a16="http://schemas.microsoft.com/office/drawing/2014/main" val="1761165314"/>
                    </a:ext>
                  </a:extLst>
                </a:gridCol>
                <a:gridCol w="477198">
                  <a:extLst>
                    <a:ext uri="{9D8B030D-6E8A-4147-A177-3AD203B41FA5}">
                      <a16:colId xmlns:a16="http://schemas.microsoft.com/office/drawing/2014/main" val="3558322347"/>
                    </a:ext>
                  </a:extLst>
                </a:gridCol>
                <a:gridCol w="477198">
                  <a:extLst>
                    <a:ext uri="{9D8B030D-6E8A-4147-A177-3AD203B41FA5}">
                      <a16:colId xmlns:a16="http://schemas.microsoft.com/office/drawing/2014/main" val="1615049139"/>
                    </a:ext>
                  </a:extLst>
                </a:gridCol>
              </a:tblGrid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6959353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0184477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3629131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0103155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5299782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9396261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1840976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6493578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0651228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6364767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8430805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3587403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4439259"/>
                  </a:ext>
                </a:extLst>
              </a:tr>
              <a:tr h="3779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7422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20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358E7B-B7C7-B606-4004-2089EC17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23" y="661481"/>
            <a:ext cx="4161173" cy="60116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943468-D99E-A2BF-FDFF-A1B0FE34E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950" y="272374"/>
            <a:ext cx="7544914" cy="62257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5D81E8-3DCC-E3AF-D30B-D19CC8482A84}"/>
              </a:ext>
            </a:extLst>
          </p:cNvPr>
          <p:cNvSpPr txBox="1"/>
          <p:nvPr/>
        </p:nvSpPr>
        <p:spPr>
          <a:xfrm>
            <a:off x="428017" y="272374"/>
            <a:ext cx="2619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Events on Sensitive Data</a:t>
            </a:r>
          </a:p>
        </p:txBody>
      </p:sp>
    </p:spTree>
    <p:extLst>
      <p:ext uri="{BB962C8B-B14F-4D97-AF65-F5344CB8AC3E}">
        <p14:creationId xmlns:p14="http://schemas.microsoft.com/office/powerpoint/2010/main" val="91349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8C8A1A-6362-3A7D-C97D-7D22A3A6E5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526032"/>
              </p:ext>
            </p:extLst>
          </p:nvPr>
        </p:nvGraphicFramePr>
        <p:xfrm>
          <a:off x="6213475" y="1458119"/>
          <a:ext cx="33274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7923">
                  <a:extLst>
                    <a:ext uri="{9D8B030D-6E8A-4147-A177-3AD203B41FA5}">
                      <a16:colId xmlns:a16="http://schemas.microsoft.com/office/drawing/2014/main" val="4021935319"/>
                    </a:ext>
                  </a:extLst>
                </a:gridCol>
                <a:gridCol w="1779477">
                  <a:extLst>
                    <a:ext uri="{9D8B030D-6E8A-4147-A177-3AD203B41FA5}">
                      <a16:colId xmlns:a16="http://schemas.microsoft.com/office/drawing/2014/main" val="259688493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Permission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15547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91641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4322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95824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92138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06164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79086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36422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902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60056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73973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93374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20351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93191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465877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51DFD1F-CAF6-8BD4-AFB3-9A802EDB6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27" y="632906"/>
            <a:ext cx="4161173" cy="60116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7234E2-BA82-707B-1559-A0C3261B4DE4}"/>
              </a:ext>
            </a:extLst>
          </p:cNvPr>
          <p:cNvSpPr txBox="1"/>
          <p:nvPr/>
        </p:nvSpPr>
        <p:spPr>
          <a:xfrm>
            <a:off x="771525" y="266700"/>
            <a:ext cx="2269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Permissions Explorer</a:t>
            </a:r>
          </a:p>
        </p:txBody>
      </p:sp>
    </p:spTree>
    <p:extLst>
      <p:ext uri="{BB962C8B-B14F-4D97-AF65-F5344CB8AC3E}">
        <p14:creationId xmlns:p14="http://schemas.microsoft.com/office/powerpoint/2010/main" val="2820847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60580E-5CEC-78D1-FCB7-21C206323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10" y="423153"/>
            <a:ext cx="4161173" cy="6011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D964A6-4080-8FE5-B94B-4B375BAC4A55}"/>
              </a:ext>
            </a:extLst>
          </p:cNvPr>
          <p:cNvSpPr/>
          <p:nvPr/>
        </p:nvSpPr>
        <p:spPr>
          <a:xfrm>
            <a:off x="4756826" y="3428999"/>
            <a:ext cx="7198468" cy="28258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 Jobs (tabbed)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95068-8F55-0363-26FE-58C9E259971F}"/>
              </a:ext>
            </a:extLst>
          </p:cNvPr>
          <p:cNvSpPr txBox="1"/>
          <p:nvPr/>
        </p:nvSpPr>
        <p:spPr>
          <a:xfrm>
            <a:off x="4756826" y="533400"/>
            <a:ext cx="719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New job config: Quarantine, </a:t>
            </a:r>
            <a:r>
              <a:rPr lang="en-US" dirty="0" err="1"/>
              <a:t>Repermission</a:t>
            </a:r>
            <a:r>
              <a:rPr lang="en-US" dirty="0"/>
              <a:t>, or both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FD1CFD-3710-C855-E587-854B73BD56C7}"/>
              </a:ext>
            </a:extLst>
          </p:cNvPr>
          <p:cNvSpPr/>
          <p:nvPr/>
        </p:nvSpPr>
        <p:spPr>
          <a:xfrm>
            <a:off x="4756826" y="533400"/>
            <a:ext cx="7198468" cy="28258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E34A0-B897-4B50-7DF8-C689DD2D39CB}"/>
              </a:ext>
            </a:extLst>
          </p:cNvPr>
          <p:cNvSpPr txBox="1"/>
          <p:nvPr/>
        </p:nvSpPr>
        <p:spPr>
          <a:xfrm>
            <a:off x="1076325" y="171450"/>
            <a:ext cx="14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Remediation</a:t>
            </a:r>
          </a:p>
        </p:txBody>
      </p:sp>
    </p:spTree>
    <p:extLst>
      <p:ext uri="{BB962C8B-B14F-4D97-AF65-F5344CB8AC3E}">
        <p14:creationId xmlns:p14="http://schemas.microsoft.com/office/powerpoint/2010/main" val="384490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2D6F6-352A-785E-0528-101BA412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550B75-88CE-ABC2-C042-92BF2B07EAD2}"/>
              </a:ext>
            </a:extLst>
          </p:cNvPr>
          <p:cNvSpPr/>
          <p:nvPr/>
        </p:nvSpPr>
        <p:spPr>
          <a:xfrm>
            <a:off x="304800" y="295275"/>
            <a:ext cx="11677650" cy="6362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EE393-36FD-F287-01F3-3969F9A1FC7B}"/>
              </a:ext>
            </a:extLst>
          </p:cNvPr>
          <p:cNvSpPr/>
          <p:nvPr/>
        </p:nvSpPr>
        <p:spPr>
          <a:xfrm>
            <a:off x="465992" y="430823"/>
            <a:ext cx="11342077" cy="6131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gas</a:t>
            </a:r>
            <a:r>
              <a:rPr lang="en-US" dirty="0" err="1">
                <a:solidFill>
                  <a:schemeClr val="tx1"/>
                </a:solidFill>
              </a:rPr>
              <a:t>List</a:t>
            </a:r>
            <a:r>
              <a:rPr lang="en-US" dirty="0">
                <a:solidFill>
                  <a:schemeClr val="tx1"/>
                </a:solidFill>
              </a:rPr>
              <a:t> of </a:t>
            </a:r>
            <a:r>
              <a:rPr lang="en-US" dirty="0" err="1">
                <a:solidFill>
                  <a:schemeClr val="tx1"/>
                </a:solidFill>
              </a:rPr>
              <a:t>precanned</a:t>
            </a:r>
            <a:r>
              <a:rPr lang="en-US" dirty="0">
                <a:solidFill>
                  <a:schemeClr val="tx1"/>
                </a:solidFill>
              </a:rPr>
              <a:t> reports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B19FEA9-ABD9-6E05-A762-F9BEDA9EB5F9}"/>
                  </a:ext>
                </a:extLst>
              </p14:cNvPr>
              <p14:cNvContentPartPr/>
              <p14:nvPr/>
            </p14:nvContentPartPr>
            <p14:xfrm>
              <a:off x="1002060" y="157528"/>
              <a:ext cx="1203480" cy="274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B19FEA9-ABD9-6E05-A762-F9BEDA9EB5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5940" y="151408"/>
                <a:ext cx="12157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AA4976F-B100-6EEF-94F8-7DA6CE253234}"/>
                  </a:ext>
                </a:extLst>
              </p14:cNvPr>
              <p14:cNvContentPartPr/>
              <p14:nvPr/>
            </p14:nvContentPartPr>
            <p14:xfrm>
              <a:off x="2171340" y="272368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AA4976F-B100-6EEF-94F8-7DA6CE2532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5220" y="2662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283680A-0D4C-4A35-99E3-F697C2DD788A}"/>
                  </a:ext>
                </a:extLst>
              </p14:cNvPr>
              <p14:cNvContentPartPr/>
              <p14:nvPr/>
            </p14:nvContentPartPr>
            <p14:xfrm>
              <a:off x="2065860" y="85528"/>
              <a:ext cx="1311120" cy="317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283680A-0D4C-4A35-99E3-F697C2DD78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59740" y="79408"/>
                <a:ext cx="1323360" cy="32976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A811E53-909C-93DF-F6C9-EE0530B529FB}"/>
              </a:ext>
            </a:extLst>
          </p:cNvPr>
          <p:cNvSpPr txBox="1"/>
          <p:nvPr/>
        </p:nvSpPr>
        <p:spPr>
          <a:xfrm>
            <a:off x="1120783" y="110022"/>
            <a:ext cx="966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46807-06F3-D987-C12A-852B3D00A0E5}"/>
              </a:ext>
            </a:extLst>
          </p:cNvPr>
          <p:cNvSpPr txBox="1"/>
          <p:nvPr/>
        </p:nvSpPr>
        <p:spPr>
          <a:xfrm>
            <a:off x="2171340" y="85528"/>
            <a:ext cx="91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DC5157-6D7A-C4DC-6A9E-3F5BEBF7655F}"/>
              </a:ext>
            </a:extLst>
          </p:cNvPr>
          <p:cNvSpPr txBox="1"/>
          <p:nvPr/>
        </p:nvSpPr>
        <p:spPr>
          <a:xfrm>
            <a:off x="1517188" y="1693306"/>
            <a:ext cx="102088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Reports: </a:t>
            </a:r>
            <a:r>
              <a:rPr lang="en-US" dirty="0" err="1"/>
              <a:t>sql</a:t>
            </a:r>
            <a:r>
              <a:rPr lang="en-US" dirty="0"/>
              <a:t> query tab with AI assistant (user enters either anthropic or open AI key in configuration)</a:t>
            </a:r>
          </a:p>
          <a:p>
            <a:r>
              <a:rPr lang="en-US" dirty="0"/>
              <a:t>, </a:t>
            </a:r>
            <a:r>
              <a:rPr lang="en-US" dirty="0" err="1"/>
              <a:t>precanned</a:t>
            </a:r>
            <a:r>
              <a:rPr lang="en-US" dirty="0"/>
              <a:t> reports. User selects which they want to use and it creates a tab, either a query tab with a</a:t>
            </a:r>
          </a:p>
          <a:p>
            <a:r>
              <a:rPr lang="en-US" dirty="0"/>
              <a:t>Grid for output, or a </a:t>
            </a:r>
            <a:r>
              <a:rPr lang="en-US" dirty="0" err="1"/>
              <a:t>precanned</a:t>
            </a:r>
            <a:r>
              <a:rPr lang="en-US" dirty="0"/>
              <a:t> report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617929-C16B-C774-5D97-D50ECB3A3A99}"/>
              </a:ext>
            </a:extLst>
          </p:cNvPr>
          <p:cNvSpPr txBox="1"/>
          <p:nvPr/>
        </p:nvSpPr>
        <p:spPr>
          <a:xfrm>
            <a:off x="1120783" y="658026"/>
            <a:ext cx="245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Reports: reports tab</a:t>
            </a:r>
          </a:p>
        </p:txBody>
      </p:sp>
    </p:spTree>
    <p:extLst>
      <p:ext uri="{BB962C8B-B14F-4D97-AF65-F5344CB8AC3E}">
        <p14:creationId xmlns:p14="http://schemas.microsoft.com/office/powerpoint/2010/main" val="4054258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5C8F2-43D8-EC46-606F-849FB008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2123FC-270B-B501-F88F-C8DC4E415C32}"/>
              </a:ext>
            </a:extLst>
          </p:cNvPr>
          <p:cNvSpPr/>
          <p:nvPr/>
        </p:nvSpPr>
        <p:spPr>
          <a:xfrm>
            <a:off x="304800" y="295275"/>
            <a:ext cx="11677650" cy="6362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18A08-F215-E7AF-778B-AA86C36F42E0}"/>
              </a:ext>
            </a:extLst>
          </p:cNvPr>
          <p:cNvSpPr/>
          <p:nvPr/>
        </p:nvSpPr>
        <p:spPr>
          <a:xfrm>
            <a:off x="465992" y="430823"/>
            <a:ext cx="11342077" cy="6131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gas</a:t>
            </a:r>
            <a:r>
              <a:rPr lang="en-US" dirty="0" err="1">
                <a:solidFill>
                  <a:schemeClr val="tx1"/>
                </a:solidFill>
              </a:rPr>
              <a:t>List</a:t>
            </a:r>
            <a:r>
              <a:rPr lang="en-US" dirty="0">
                <a:solidFill>
                  <a:schemeClr val="tx1"/>
                </a:solidFill>
              </a:rPr>
              <a:t> of </a:t>
            </a:r>
            <a:r>
              <a:rPr lang="en-US" dirty="0" err="1">
                <a:solidFill>
                  <a:schemeClr val="tx1"/>
                </a:solidFill>
              </a:rPr>
              <a:t>precanned</a:t>
            </a:r>
            <a:r>
              <a:rPr lang="en-US" dirty="0">
                <a:solidFill>
                  <a:schemeClr val="tx1"/>
                </a:solidFill>
              </a:rPr>
              <a:t> reports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DD8DC61-805F-1445-E2EE-86E53E624601}"/>
                  </a:ext>
                </a:extLst>
              </p14:cNvPr>
              <p14:cNvContentPartPr/>
              <p14:nvPr/>
            </p14:nvContentPartPr>
            <p14:xfrm>
              <a:off x="1002060" y="157528"/>
              <a:ext cx="1203480" cy="274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DD8DC61-805F-1445-E2EE-86E53E6246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5940" y="151408"/>
                <a:ext cx="12157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3CBBCCE-C3F8-6D7F-897A-C4676EA0A6F9}"/>
                  </a:ext>
                </a:extLst>
              </p14:cNvPr>
              <p14:cNvContentPartPr/>
              <p14:nvPr/>
            </p14:nvContentPartPr>
            <p14:xfrm>
              <a:off x="2065860" y="85528"/>
              <a:ext cx="1311120" cy="317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3CBBCCE-C3F8-6D7F-897A-C4676EA0A6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59740" y="79408"/>
                <a:ext cx="1323360" cy="32976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947B00B-2196-DFBA-E33F-CAF8CDF7F6DD}"/>
              </a:ext>
            </a:extLst>
          </p:cNvPr>
          <p:cNvSpPr txBox="1"/>
          <p:nvPr/>
        </p:nvSpPr>
        <p:spPr>
          <a:xfrm>
            <a:off x="1120783" y="110022"/>
            <a:ext cx="966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38A29-EB0D-B5C9-21B5-71E4267095F7}"/>
              </a:ext>
            </a:extLst>
          </p:cNvPr>
          <p:cNvSpPr txBox="1"/>
          <p:nvPr/>
        </p:nvSpPr>
        <p:spPr>
          <a:xfrm>
            <a:off x="2171340" y="85528"/>
            <a:ext cx="91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8CDC4B-E4D4-23B6-C129-0CAF2A6EB024}"/>
                  </a:ext>
                </a:extLst>
              </p14:cNvPr>
              <p14:cNvContentPartPr/>
              <p14:nvPr/>
            </p14:nvContentPartPr>
            <p14:xfrm>
              <a:off x="1915740" y="219448"/>
              <a:ext cx="141840" cy="27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8CDC4B-E4D4-23B6-C129-0CAF2A6EB0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09620" y="213328"/>
                <a:ext cx="154080" cy="28404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4C78707-53EE-99D1-5F50-19D54381726E}"/>
              </a:ext>
            </a:extLst>
          </p:cNvPr>
          <p:cNvSpPr txBox="1"/>
          <p:nvPr/>
        </p:nvSpPr>
        <p:spPr>
          <a:xfrm>
            <a:off x="753883" y="700995"/>
            <a:ext cx="116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 tab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302B92-A17B-B26A-5BEB-B55FF514704C}"/>
              </a:ext>
            </a:extLst>
          </p:cNvPr>
          <p:cNvSpPr/>
          <p:nvPr/>
        </p:nvSpPr>
        <p:spPr>
          <a:xfrm>
            <a:off x="4879649" y="3324314"/>
            <a:ext cx="2785929" cy="55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B72CDE7-A989-9C9D-204B-DC773328E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889705"/>
              </p:ext>
            </p:extLst>
          </p:nvPr>
        </p:nvGraphicFramePr>
        <p:xfrm>
          <a:off x="753883" y="1786071"/>
          <a:ext cx="11054192" cy="46411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0887">
                  <a:extLst>
                    <a:ext uri="{9D8B030D-6E8A-4147-A177-3AD203B41FA5}">
                      <a16:colId xmlns:a16="http://schemas.microsoft.com/office/drawing/2014/main" val="3209689587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3195638008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2278528222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2219599760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2206893303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1056550699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2439381660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920841567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1729611231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1879589952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2128004654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3557905965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3772124417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61940329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715490761"/>
                    </a:ext>
                  </a:extLst>
                </a:gridCol>
                <a:gridCol w="690887">
                  <a:extLst>
                    <a:ext uri="{9D8B030D-6E8A-4147-A177-3AD203B41FA5}">
                      <a16:colId xmlns:a16="http://schemas.microsoft.com/office/drawing/2014/main" val="107188618"/>
                    </a:ext>
                  </a:extLst>
                </a:gridCol>
              </a:tblGrid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521882963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449622925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178687868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81926152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377478200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557703667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414481284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252925555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939801750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527630642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513900719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901080337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676830450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947312742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678834930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40927611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564454371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4255525782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4127730902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078098821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024929112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514035422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090655148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329029705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649088896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029972234"/>
                  </a:ext>
                </a:extLst>
              </a:tr>
              <a:tr h="171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84628605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F77117D-3179-00CC-7CC9-565BC89F4057}"/>
              </a:ext>
            </a:extLst>
          </p:cNvPr>
          <p:cNvSpPr/>
          <p:nvPr/>
        </p:nvSpPr>
        <p:spPr>
          <a:xfrm>
            <a:off x="2606467" y="479354"/>
            <a:ext cx="8947447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Sql</a:t>
            </a:r>
            <a:r>
              <a:rPr lang="en-US" dirty="0">
                <a:solidFill>
                  <a:schemeClr val="tx1"/>
                </a:solidFill>
              </a:rPr>
              <a:t> editor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AB5EC-2E8E-3F76-450A-23E0AA492CC5}"/>
              </a:ext>
            </a:extLst>
          </p:cNvPr>
          <p:cNvSpPr/>
          <p:nvPr/>
        </p:nvSpPr>
        <p:spPr>
          <a:xfrm>
            <a:off x="2606466" y="1118792"/>
            <a:ext cx="8947447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Ask AI – sends query with full schema and engineered prompt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EAC0FC-34B1-C502-B28B-6436A75989F4}"/>
              </a:ext>
            </a:extLst>
          </p:cNvPr>
          <p:cNvSpPr txBox="1"/>
          <p:nvPr/>
        </p:nvSpPr>
        <p:spPr>
          <a:xfrm>
            <a:off x="817138" y="459921"/>
            <a:ext cx="245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Reports: </a:t>
            </a:r>
          </a:p>
        </p:txBody>
      </p:sp>
    </p:spTree>
    <p:extLst>
      <p:ext uri="{BB962C8B-B14F-4D97-AF65-F5344CB8AC3E}">
        <p14:creationId xmlns:p14="http://schemas.microsoft.com/office/powerpoint/2010/main" val="2217926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B013D6-8422-AA14-2A50-A3652B638ED9}"/>
              </a:ext>
            </a:extLst>
          </p:cNvPr>
          <p:cNvSpPr/>
          <p:nvPr/>
        </p:nvSpPr>
        <p:spPr>
          <a:xfrm>
            <a:off x="304800" y="295275"/>
            <a:ext cx="11677650" cy="6362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3EE1A-6405-CB59-3C2D-9D0CC1C17AC1}"/>
              </a:ext>
            </a:extLst>
          </p:cNvPr>
          <p:cNvSpPr txBox="1"/>
          <p:nvPr/>
        </p:nvSpPr>
        <p:spPr>
          <a:xfrm>
            <a:off x="1298330" y="547267"/>
            <a:ext cx="9845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Configuration (settings in example below) Links of configuration items, opens new tab to configure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ABBA61-CE65-1184-6EE7-29BD38384529}"/>
              </a:ext>
            </a:extLst>
          </p:cNvPr>
          <p:cNvSpPr txBox="1"/>
          <p:nvPr/>
        </p:nvSpPr>
        <p:spPr>
          <a:xfrm>
            <a:off x="1028700" y="1714500"/>
            <a:ext cx="10038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Setting1</a:t>
            </a:r>
          </a:p>
          <a:p>
            <a:r>
              <a:rPr lang="en-US" dirty="0"/>
              <a:t>Setting2</a:t>
            </a:r>
          </a:p>
          <a:p>
            <a:r>
              <a:rPr lang="en-US" dirty="0"/>
              <a:t>setting3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E06CA-D441-0653-551B-58CA8F25FF04}"/>
              </a:ext>
            </a:extLst>
          </p:cNvPr>
          <p:cNvSpPr txBox="1"/>
          <p:nvPr/>
        </p:nvSpPr>
        <p:spPr>
          <a:xfrm>
            <a:off x="3824654" y="1714500"/>
            <a:ext cx="11570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&lt;Value 1&gt;</a:t>
            </a:r>
          </a:p>
          <a:p>
            <a:r>
              <a:rPr lang="en-US" dirty="0"/>
              <a:t>&lt;Value 2&gt;</a:t>
            </a:r>
          </a:p>
          <a:p>
            <a:r>
              <a:rPr lang="en-US" dirty="0"/>
              <a:t>&lt;Value 3&gt;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041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PresentationFormat>Widescreen</PresentationFormat>
  <Paragraphs>633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Turner</dc:creator>
  <cp:lastModifiedBy>Ben Turner</cp:lastModifiedBy>
  <cp:revision>6</cp:revision>
  <dcterms:created xsi:type="dcterms:W3CDTF">2026-02-11T19:03:12Z</dcterms:created>
  <dcterms:modified xsi:type="dcterms:W3CDTF">2026-02-11T23:59:43Z</dcterms:modified>
</cp:coreProperties>
</file>